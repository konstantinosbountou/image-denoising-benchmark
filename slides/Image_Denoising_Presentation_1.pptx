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74" r:id="rId15"/>
    <p:sldId id="276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-684" y="-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____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l-G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Gaussian Noise</c:v>
                </c:pt>
              </c:strCache>
            </c:strRef>
          </c:tx>
          <c:spPr>
            <a:solidFill>
              <a:srgbClr val="4472C4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l-GR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NLM</c:v>
                </c:pt>
                <c:pt idx="1">
                  <c:v>BM3D</c:v>
                </c:pt>
                <c:pt idx="2">
                  <c:v>U-Net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27.62</c:v>
                </c:pt>
                <c:pt idx="1">
                  <c:v>29.939999999999987</c:v>
                </c:pt>
                <c:pt idx="2">
                  <c:v>26.7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Salt &amp; Pepper</c:v>
                </c:pt>
              </c:strCache>
            </c:strRef>
          </c:tx>
          <c:spPr>
            <a:solidFill>
              <a:srgbClr val="E91E63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l-GR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NLM</c:v>
                </c:pt>
                <c:pt idx="1">
                  <c:v>BM3D</c:v>
                </c:pt>
                <c:pt idx="2">
                  <c:v>U-Net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18.3</c:v>
                </c:pt>
                <c:pt idx="1">
                  <c:v>23.650000000000013</c:v>
                </c:pt>
                <c:pt idx="2">
                  <c:v>23.830000000000005</c:v>
                </c:pt>
              </c:numCache>
            </c:numRef>
          </c:val>
        </c:ser>
        <c:dLbls>
          <c:showVal val="1"/>
        </c:dLbls>
        <c:axId val="116269056"/>
        <c:axId val="116270592"/>
      </c:barChart>
      <c:catAx>
        <c:axId val="11626905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l-GR"/>
          </a:p>
        </c:txPr>
        <c:crossAx val="116270592"/>
        <c:crosses val="autoZero"/>
        <c:auto val="1"/>
        <c:lblAlgn val="ctr"/>
        <c:lblOffset val="100"/>
        <c:noMultiLvlLbl val="1"/>
      </c:catAx>
      <c:valAx>
        <c:axId val="116270592"/>
        <c:scaling>
          <c:orientation val="minMax"/>
          <c:max val="32"/>
        </c:scaling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l-GR"/>
          </a:p>
        </c:txPr>
        <c:crossAx val="11626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ΠΑΝΕΠΙΣΤΗΜΙΟ ΠΕΛΟΠΟΝΝΗΣΟΥ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Αποθορυβοποίηση Εικόνας με Στατιστικά Φίλτρα και Βαθιά Δίκτυα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</a:rPr>
              <a:t>Image Denoising using Statistical Filters and Deep Networks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Φοιτητής: </a:t>
            </a:r>
            <a:r>
              <a:rPr lang="en-US" sz="1400" dirty="0">
                <a:solidFill>
                  <a:srgbClr val="FFFFFF"/>
                </a:solidFill>
              </a:rPr>
              <a:t>Μπουντουράσας Κωνσταντίνος (Α.Μ. 21171)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Εισηγητής: </a:t>
            </a:r>
            <a:r>
              <a:rPr lang="en-US" sz="1400" dirty="0">
                <a:solidFill>
                  <a:srgbClr val="FFFFFF"/>
                </a:solidFill>
              </a:rPr>
              <a:t>Ζέρβας Παναγιώτης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Πάτρα, Ιανουάριος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ΠΕΡΙΕΧΟΜΕΝΑ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1. Εισαγωγή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Σκοπός της Εργασίας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Τύποι Θορύβου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2. Θεωρητικό Υπόβαθρο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Non-Local Means (NLM)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Block-Matching 3D (BM3D)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U-Net Denoising Autoencoder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3. Μεθοδολογία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Datasets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Μετρικές Αξιολόγησης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Πειραματική Διαδικασία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4. Αποτελέσματα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</a:rPr>
              <a:t>5. Συμπεράσματα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1. ΕΙΣΑΓΩΓΗ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37160" cy="13716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</a:rPr>
              <a:t>Η αποθορυβοποίηση εικόνας αποτελεί θεμελιώδες πρόβλημα στην επεξεργασία εικόνας και την υπολογιστική όραση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37160" cy="13716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</a:rPr>
              <a:t>Ο θόρυβος προκύπτει από διάφορες πηγές: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Χαμηλή ποιότητα αισθητήρων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Περιβαλλοντικές συνθήκες κατά τη λήψη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Μετάδοση δεδομένων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37160" cy="13716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</a:rPr>
              <a:t>Κρίσιμη για πολλές εφαρμογές: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Ιατρική απεικόνιση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Δορυφορική τηλεπισκόπηση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Φωτογραφία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ΜΕΘΟΔΟΙ ΠΟΥ ΜΕΛΕΤΩΝΤΑΙ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Non-Local Means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</a:rPr>
              <a:t>Στατιστική μέθοδος που εκμεταλλεύεται την αυτο-ομοιότητα των εικόνων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</a:rPr>
              <a:t>(NLM)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D2D2D"/>
                </a:solidFill>
              </a:rPr>
              <a:t>Κλασική Μέθοδος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Block-Matching 3D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</a:rPr>
              <a:t>State-of-the-art κλασική μέθοδος με collaborative filtering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</a:rPr>
              <a:t>(BM3D)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D2D2D"/>
                </a:solidFill>
              </a:rPr>
              <a:t>Κλασική Μέθοδος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U-Net Autoencoder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</a:rPr>
              <a:t>Βαθύ νευρωνικό δίκτυο βασισμένο στην αρχιτεκτονική U-Net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72C4"/>
                </a:solidFill>
              </a:rPr>
              <a:t>(U-Net)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D2D2D"/>
                </a:solidFill>
              </a:rPr>
              <a:t>Βαθιά Μάθηση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ΤΥΠΟΙ ΘΟΡΥΒΟΥ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Gaussian Noise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</a:rPr>
              <a:t>• Ακολουθεί κανονική κατανομή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</a:rPr>
              <a:t>• Συνηθέστερος τύπος θορύβου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</a:rPr>
              <a:t>• Προκύπτει από ηλεκτρονικό θόρυβο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</a:rPr>
              <a:t>• </a:t>
            </a:r>
            <a:r>
              <a:rPr lang="en-US" sz="1300" i="1" dirty="0">
                <a:solidFill>
                  <a:srgbClr val="2D2D2D"/>
                </a:solidFill>
              </a:rPr>
              <a:t>Μοντέλο: y(i,j) = x(i,j) + n(i,j)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2D2D"/>
                </a:solidFill>
              </a:rPr>
              <a:t>όπου n(i,j) ~ N(0, σ²)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Salt &amp; Pepper Noise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</a:rPr>
              <a:t>• Τυχαία λευκά και μαύρα pixels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</a:rPr>
              <a:t>• Σφάλματα μετάδοσης/αποθήκευσης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</a:rPr>
              <a:t>• Προβλήματα αισθητήρων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</a:rPr>
              <a:t>• Pixels λαμβάνουν τιμές 0 ή 255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2D2D"/>
                </a:solidFill>
              </a:rPr>
              <a:t>με πιθανότητα 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ΘΕΩΡΗΤΙΚΟ ΥΠΟΒΑΘΡΟ: Non-Local Means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472C4"/>
                </a:solidFill>
              </a:rPr>
              <a:t>Βασική Ιδέα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</a:rPr>
              <a:t>Αναζητά παρόμοια patches σε ολόκληρη την εικόνα αντί να χρησιμοποιεί μόνο γειτονικά pixels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472C4"/>
                </a:solidFill>
              </a:rPr>
              <a:t>Μαθηματική Διατύπωση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6576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2D2D"/>
                </a:solidFill>
              </a:rPr>
              <a:t>NL[v](i) = Σ w(i,j) · v(j)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</a:rPr>
              <a:t>Πλεονεκτήματα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Εξαιρετική διατήρηση λεπτομερειών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Αποτελεσματικό σε επαναλαμβανόμενες δομές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Δεν υποθέτει συγκεκριμένο μοντέλο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</a:rPr>
              <a:t>Μειονεκτήματα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Υψηλό υπολογιστικό κόστος O(n²)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Δυσκολία επιλογής βέλτιστης παραμέτρου 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Μειωμένη απόδοση σε μοναδικές δομές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2D2D"/>
                </a:solidFill>
              </a:rPr>
              <a:t>Buades et al., 2005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ΘΕΩΡΗΤΙΚΟ ΥΠΟΒΑΘΡΟ: Block-Matching 3D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472C4"/>
                </a:solidFill>
              </a:rPr>
              <a:t>Δύο Στάδια Λειτουργίας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023360" cy="457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Στάδιο 1: Hard-Thresholding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1. Block-Matching: Εντοπισμός παρόμοιων patches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2. 3D Transformation: </a:t>
            </a:r>
            <a:r>
              <a:rPr lang="el-GR" sz="1200" dirty="0" smtClean="0">
                <a:solidFill>
                  <a:srgbClr val="2D2D2D"/>
                </a:solidFill>
              </a:rPr>
              <a:t>Ομαδοποίηση και 3</a:t>
            </a:r>
            <a:r>
              <a:rPr lang="en-US" sz="1200" dirty="0" smtClean="0">
                <a:solidFill>
                  <a:srgbClr val="2D2D2D"/>
                </a:solidFill>
              </a:rPr>
              <a:t>D </a:t>
            </a:r>
            <a:r>
              <a:rPr lang="el-GR" sz="1200" dirty="0" smtClean="0">
                <a:solidFill>
                  <a:srgbClr val="2D2D2D"/>
                </a:solidFill>
              </a:rPr>
              <a:t>Μ/Σ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3. Hard-Thresholding: Αφαίρεση θορύβου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4. Inverse Transform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5. Aggregation: Συνδυασμός patches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54480"/>
            <a:ext cx="4023360" cy="457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Στάδιο 2: Wiener Filtering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1. Επαναληπτικό Block-Matching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   με βασική εκτίμηση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2. Εφαρμογή Wiener Filtering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   αντί Hard-Thresholding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3. Τελική συνάθροιση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</a:rPr>
              <a:t>Χαρακτηριστικά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</a:rPr>
              <a:t>✓ State-of-the-art για Gaussian noise  |  ✓ Διατηρεί λεπτομέρειες και ακμές  |  ✓ Υψηλό υπολογιστικό κόστος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2D2D"/>
                </a:solidFill>
              </a:rPr>
              <a:t>Dabov et al., 2007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</a:t>
            </a:r>
            <a:r>
              <a:rPr lang="en-US" sz="2400" b="1" dirty="0" smtClean="0">
                <a:solidFill>
                  <a:srgbClr val="FFFFFF"/>
                </a:solidFill>
              </a:rPr>
              <a:t>ΘΕΩΡΗΤΙΚΟ ΥΠΟΒΑΘΡΟ: U-Net </a:t>
            </a:r>
            <a:r>
              <a:rPr lang="en-US" sz="2400" b="1" dirty="0" err="1" smtClean="0">
                <a:solidFill>
                  <a:srgbClr val="FFFFFF"/>
                </a:solidFill>
              </a:rPr>
              <a:t>Denoising</a:t>
            </a:r>
            <a:r>
              <a:rPr lang="en-US" sz="2400" b="1" dirty="0" smtClean="0">
                <a:solidFill>
                  <a:srgbClr val="FFFFFF"/>
                </a:solidFill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</a:rPr>
              <a:t>Autoencoder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472C4"/>
                </a:solidFill>
              </a:rPr>
              <a:t>Αρχιτεκτονική Σχήματος 'U'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023360" cy="36576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Encoder (Contracting Path)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• Convolutional layers + </a:t>
            </a:r>
            <a:r>
              <a:rPr lang="en-US" sz="1200" dirty="0" err="1" smtClean="0">
                <a:solidFill>
                  <a:srgbClr val="2D2D2D"/>
                </a:solidFill>
              </a:rPr>
              <a:t>ReLU</a:t>
            </a:r>
            <a:r>
              <a:rPr lang="en-US" sz="1200" dirty="0" smtClean="0">
                <a:solidFill>
                  <a:srgbClr val="2D2D2D"/>
                </a:solidFill>
              </a:rPr>
              <a:t> (activation functions)</a:t>
            </a:r>
            <a:endParaRPr lang="en-US" sz="1200" dirty="0"/>
          </a:p>
          <a:p>
            <a:r>
              <a:rPr lang="en-US" sz="1200" dirty="0">
                <a:solidFill>
                  <a:srgbClr val="2D2D2D"/>
                </a:solidFill>
              </a:rPr>
              <a:t>• Max pooling </a:t>
            </a:r>
            <a:r>
              <a:rPr lang="en-US" sz="1200" dirty="0" err="1">
                <a:solidFill>
                  <a:srgbClr val="2D2D2D"/>
                </a:solidFill>
              </a:rPr>
              <a:t>για</a:t>
            </a:r>
            <a:r>
              <a:rPr lang="en-US" sz="1200" dirty="0">
                <a:solidFill>
                  <a:srgbClr val="2D2D2D"/>
                </a:solidFill>
              </a:rPr>
              <a:t> </a:t>
            </a:r>
            <a:r>
              <a:rPr lang="en-US" sz="1200" dirty="0" err="1" smtClean="0">
                <a:solidFill>
                  <a:srgbClr val="2D2D2D"/>
                </a:solidFill>
              </a:rPr>
              <a:t>downsampling</a:t>
            </a:r>
            <a:r>
              <a:rPr lang="en-US" sz="1200" dirty="0" smtClean="0">
                <a:solidFill>
                  <a:srgbClr val="2D2D2D"/>
                </a:solidFill>
              </a:rPr>
              <a:t> </a:t>
            </a:r>
            <a:r>
              <a:rPr lang="el-GR" sz="1200" dirty="0" smtClean="0">
                <a:solidFill>
                  <a:srgbClr val="2D2D2D"/>
                </a:solidFill>
              </a:rPr>
              <a:t>και αύξηση</a:t>
            </a:r>
            <a:r>
              <a:rPr lang="en-US" sz="1200" dirty="0" smtClean="0">
                <a:solidFill>
                  <a:srgbClr val="2D2D2D"/>
                </a:solidFill>
              </a:rPr>
              <a:t> receptive </a:t>
            </a:r>
            <a:r>
              <a:rPr lang="el-GR" sz="1200" dirty="0" smtClean="0">
                <a:solidFill>
                  <a:srgbClr val="2D2D2D"/>
                </a:solidFill>
              </a:rPr>
              <a:t>            </a:t>
            </a:r>
            <a:r>
              <a:rPr lang="en-US" sz="1200" dirty="0" smtClean="0">
                <a:solidFill>
                  <a:srgbClr val="2D2D2D"/>
                </a:solidFill>
              </a:rPr>
              <a:t>field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• Εξαγωγή ιεραρχικών χαρακτηριστικών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Decoder (Expanding Path)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• Upsampling layers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• Skip connections </a:t>
            </a:r>
            <a:r>
              <a:rPr lang="el-GR" sz="1200" dirty="0" smtClean="0">
                <a:solidFill>
                  <a:srgbClr val="2D2D2D"/>
                </a:solidFill>
              </a:rPr>
              <a:t>για σύνδεση με </a:t>
            </a:r>
            <a:r>
              <a:rPr lang="en-US" sz="1200" dirty="0" smtClean="0">
                <a:solidFill>
                  <a:srgbClr val="2D2D2D"/>
                </a:solidFill>
              </a:rPr>
              <a:t>encoder-decoder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• Ανακατασκευή εικόνας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72C4"/>
                </a:solidFill>
              </a:rPr>
              <a:t>Πλεονεκτήματα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End-to-end learning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Δεν απαιτεί μοντέλο θορύβου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Διατηρεί λεπτομέρειες (skip connections)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Γρήγορη inference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72C4"/>
                </a:solidFill>
              </a:rPr>
              <a:t>Μειονεκτήματα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Απαιτεί μεγάλο training dataset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Υψηλό κόστος εκπαίδευσης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Χρειάζεται GPU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Κίνδυνος overfitting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2D2D"/>
                </a:solidFill>
              </a:rPr>
              <a:t>Ronneberger et al., 2015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</a:rPr>
              <a:t>2. </a:t>
            </a:r>
            <a:r>
              <a:rPr lang="el-GR" sz="2400" b="1" dirty="0" smtClean="0">
                <a:solidFill>
                  <a:srgbClr val="FFFFFF"/>
                </a:solidFill>
              </a:rPr>
              <a:t>ΕΚΠΑΊΔΕΥΣΗ </a:t>
            </a:r>
            <a:r>
              <a:rPr lang="en-US" sz="2400" b="1" dirty="0" smtClean="0">
                <a:solidFill>
                  <a:srgbClr val="FFFFFF"/>
                </a:solidFill>
              </a:rPr>
              <a:t>U-Net </a:t>
            </a:r>
            <a:r>
              <a:rPr lang="en-US" sz="2400" b="1" dirty="0" err="1" smtClean="0">
                <a:solidFill>
                  <a:srgbClr val="FFFFFF"/>
                </a:solidFill>
              </a:rPr>
              <a:t>Denoising</a:t>
            </a:r>
            <a:r>
              <a:rPr lang="en-US" sz="2400" b="1" dirty="0" smtClean="0">
                <a:solidFill>
                  <a:srgbClr val="FFFFFF"/>
                </a:solidFill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</a:rPr>
              <a:t>Autoencoder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Font typeface="Arial" pitchFamily="34" charset="0"/>
              <a:buChar char="•"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8</a:t>
            </a:r>
            <a:endParaRPr lang="en-US" sz="1000" dirty="0"/>
          </a:p>
        </p:txBody>
      </p:sp>
      <p:sp>
        <p:nvSpPr>
          <p:cNvPr id="18" name="Shape 2"/>
          <p:cNvSpPr/>
          <p:nvPr/>
        </p:nvSpPr>
        <p:spPr>
          <a:xfrm>
            <a:off x="548640" y="1097280"/>
            <a:ext cx="137160" cy="13716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9" name="18 - Ορθογώνιο"/>
          <p:cNvSpPr/>
          <p:nvPr/>
        </p:nvSpPr>
        <p:spPr>
          <a:xfrm>
            <a:off x="797603" y="957441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l-GR" dirty="0" smtClean="0"/>
              <a:t>Δημιουργία </a:t>
            </a:r>
            <a:r>
              <a:rPr lang="el-GR" dirty="0" err="1" smtClean="0"/>
              <a:t>training</a:t>
            </a:r>
            <a:r>
              <a:rPr lang="el-GR" dirty="0" smtClean="0"/>
              <a:t> </a:t>
            </a:r>
            <a:r>
              <a:rPr lang="el-GR" dirty="0" err="1" smtClean="0"/>
              <a:t>dataset</a:t>
            </a:r>
            <a:r>
              <a:rPr lang="el-GR" dirty="0" smtClean="0"/>
              <a:t> με ζεύγη </a:t>
            </a:r>
            <a:endParaRPr lang="en-US" dirty="0"/>
          </a:p>
        </p:txBody>
      </p:sp>
      <p:sp>
        <p:nvSpPr>
          <p:cNvPr id="20" name="Shape 2"/>
          <p:cNvSpPr/>
          <p:nvPr/>
        </p:nvSpPr>
        <p:spPr>
          <a:xfrm>
            <a:off x="548640" y="1658922"/>
            <a:ext cx="137160" cy="13716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1" name="20 - Ορθογώνιο"/>
          <p:cNvSpPr/>
          <p:nvPr/>
        </p:nvSpPr>
        <p:spPr>
          <a:xfrm>
            <a:off x="834116" y="1542836"/>
            <a:ext cx="5399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l-GR" dirty="0" smtClean="0"/>
              <a:t>Προώθηση των θορυβωδών εικόνων μέσω του δικτύου</a:t>
            </a:r>
            <a:endParaRPr lang="el-GR" dirty="0"/>
          </a:p>
        </p:txBody>
      </p:sp>
      <p:sp>
        <p:nvSpPr>
          <p:cNvPr id="22" name="Shape 2"/>
          <p:cNvSpPr/>
          <p:nvPr/>
        </p:nvSpPr>
        <p:spPr>
          <a:xfrm>
            <a:off x="548640" y="2182266"/>
            <a:ext cx="137160" cy="13716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3" name="22 - Ορθογώνιο"/>
          <p:cNvSpPr/>
          <p:nvPr/>
        </p:nvSpPr>
        <p:spPr>
          <a:xfrm>
            <a:off x="834116" y="19962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l-GR" dirty="0" smtClean="0"/>
              <a:t>Υπολογισμός </a:t>
            </a:r>
            <a:r>
              <a:rPr lang="el-GR" dirty="0" err="1" smtClean="0"/>
              <a:t>loss</a:t>
            </a:r>
            <a:r>
              <a:rPr lang="el-GR" dirty="0" smtClean="0"/>
              <a:t> με σύγκριση της εξόδου με την καθαρή εικόνα</a:t>
            </a:r>
            <a:endParaRPr lang="el-GR" dirty="0"/>
          </a:p>
        </p:txBody>
      </p:sp>
      <p:sp>
        <p:nvSpPr>
          <p:cNvPr id="24" name="Shape 2"/>
          <p:cNvSpPr/>
          <p:nvPr/>
        </p:nvSpPr>
        <p:spPr>
          <a:xfrm>
            <a:off x="548640" y="2766060"/>
            <a:ext cx="137160" cy="13716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5" name="24 - Ορθογώνιο"/>
          <p:cNvSpPr/>
          <p:nvPr/>
        </p:nvSpPr>
        <p:spPr>
          <a:xfrm>
            <a:off x="834116" y="264259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l-GR" dirty="0" err="1" smtClean="0"/>
              <a:t>Backpropagation</a:t>
            </a:r>
            <a:r>
              <a:rPr lang="el-GR" dirty="0" smtClean="0"/>
              <a:t> και ενημέρωση των βαρών με </a:t>
            </a:r>
            <a:r>
              <a:rPr lang="el-GR" dirty="0" err="1" smtClean="0"/>
              <a:t>gradient</a:t>
            </a:r>
            <a:r>
              <a:rPr lang="el-GR" dirty="0" smtClean="0"/>
              <a:t> </a:t>
            </a:r>
            <a:r>
              <a:rPr lang="el-GR" dirty="0" err="1" smtClean="0"/>
              <a:t>descent</a:t>
            </a:r>
            <a:endParaRPr lang="el-GR" dirty="0"/>
          </a:p>
        </p:txBody>
      </p:sp>
      <p:sp>
        <p:nvSpPr>
          <p:cNvPr id="26" name="Shape 2"/>
          <p:cNvSpPr/>
          <p:nvPr/>
        </p:nvSpPr>
        <p:spPr>
          <a:xfrm>
            <a:off x="548640" y="3406140"/>
            <a:ext cx="137160" cy="13716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7" name="26 - Ορθογώνιο"/>
          <p:cNvSpPr/>
          <p:nvPr/>
        </p:nvSpPr>
        <p:spPr>
          <a:xfrm>
            <a:off x="834116" y="328892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l-GR" dirty="0" smtClean="0"/>
              <a:t>Επανάληψη για πολλαπλά </a:t>
            </a:r>
            <a:r>
              <a:rPr lang="el-GR" dirty="0" err="1" smtClean="0"/>
              <a:t>epochs</a:t>
            </a:r>
            <a:r>
              <a:rPr lang="el-GR" dirty="0" smtClean="0"/>
              <a:t> μέχρι σύγκλισης</a:t>
            </a:r>
            <a:endParaRPr lang="el-G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3. ΜΕΘΟΔΟΛΟΓΙΑ: Datasets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CBSD68 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2D2D"/>
                </a:solidFill>
              </a:rPr>
              <a:t>Color Berkeley Segmentation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68 έγχρωμες εικόνες φυσικών σκηνών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Ποικιλία: τοπία, ζώα, άνθρωποι, αντικείμενα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Ευρέως χρησιμοποιείται για benchmark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Διαφορετικά χαρακτηριστικά (υφές, ακμές)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Kodak24 Dataset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2D2D"/>
                </a:solidFill>
              </a:rPr>
              <a:t>Gold Standard για Image 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24 υψηλής ποιότητας έγχρωμες εικόνες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Επαγγελματική ποιότητα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Διαστάσεις: 768×512 ή 512×768 pixels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Ποικιλία: πορτρέτα, αρχιτεκτονική, φύση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72C4"/>
                </a:solidFill>
              </a:rPr>
              <a:t>Μετρική Αξιολόγησης: PSNR (Peak Signal-to-Noise Ratio)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</a:rPr>
              <a:t>PSNR &gt; 30 dB: Πολύ καλή ποιότητα  |  20-30 dB: Αποδεκτή  |  &lt; 20 dB: Χαμηλή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4. ΑΠΟΤΕΛΕΣΜΑΤΑ: Gaussian Noise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914400" y="1188720"/>
          <a:ext cx="7315200" cy="18288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Μέθοδος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Μέσος PSNR (dB)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Βελτίωση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Noisy (αρχική)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20.22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NLM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27.62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</a:rPr>
                        <a:t>+7.40 dB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BM3D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472C4"/>
                          </a:solidFill>
                        </a:rPr>
                        <a:t>29.94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+9.72 dB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26.70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</a:rPr>
                        <a:t>+6.48 dB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</a:rPr>
              <a:t>Κύρια Ευρήματα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BM3D παρουσίασε την καλύτερη απόδοση (29.94 dB)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State-of-the-art μέθοδος για Gaussian noise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NLM δεύτερη καλύτερη επιλογή με σημαντική βελτίωση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U-Net υστερεί των κλασικών μεθόδων κατά ~3 dB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4. ΑΠΟΤΕΛΕΣΜΑΤΑ: Salt &amp; Pepper Noise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914400" y="1188720"/>
          <a:ext cx="7315200" cy="18288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Μέθοδος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Μέσος PSNR (dB)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Βελτίωση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Noisy (αρχική)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18.25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NLM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18.30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32F2F"/>
                          </a:solidFill>
                        </a:rPr>
                        <a:t>+0.05 dB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BM3D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23.65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</a:rPr>
                        <a:t>+5.40 dB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U-Net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472C4"/>
                          </a:solidFill>
                        </a:rPr>
                        <a:t>23.83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+5.58 dB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</a:rPr>
              <a:t>Κύρια Ευρήματα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U-Net παρουσίασε την καλύτερη απόδοση (23.83 dB)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Deep learning μέθοδος υπερτερεί για impulse noise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NLM απέτυχε πλήρως (μόλις +0.05 dB)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</a:rPr>
              <a:t>BM3D οριακά χειρότερο από U-Net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ΣΥΓΚΡΙΤΙΚΗ ΑΝΑΛΥΣΗ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472C4"/>
                </a:solidFill>
              </a:rPr>
              <a:t>Απόδοση Μεθόδων ανά Τύπο Θορύβου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8229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6 - Ορθογώνιο"/>
          <p:cNvSpPr/>
          <p:nvPr/>
        </p:nvSpPr>
        <p:spPr>
          <a:xfrm>
            <a:off x="2638015" y="4292322"/>
            <a:ext cx="4038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4472C4"/>
                </a:solidFill>
              </a:rPr>
              <a:t>Gaussian Noise </a:t>
            </a:r>
            <a:r>
              <a:rPr lang="en-US" b="1" dirty="0" err="1" smtClean="0">
                <a:solidFill>
                  <a:srgbClr val="4472C4"/>
                </a:solidFill>
              </a:rPr>
              <a:t>vs</a:t>
            </a:r>
            <a:r>
              <a:rPr lang="en-US" b="1" dirty="0" smtClean="0">
                <a:solidFill>
                  <a:srgbClr val="4472C4"/>
                </a:solidFill>
              </a:rPr>
              <a:t> </a:t>
            </a:r>
            <a:r>
              <a:rPr lang="en-US" b="1" dirty="0" smtClean="0">
                <a:solidFill>
                  <a:srgbClr val="FF0066"/>
                </a:solidFill>
              </a:rPr>
              <a:t>Salt and Pepper Noise</a:t>
            </a:r>
            <a:endParaRPr lang="en-US" dirty="0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2800" b="1" dirty="0" smtClean="0">
                <a:solidFill>
                  <a:srgbClr val="FFFFFF"/>
                </a:solidFill>
              </a:rPr>
              <a:t>ΕΙΚΟΝΙΚΑ ΑΠΟΤΕΛΕΣΜΑΤΑ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l-GR" sz="1600" b="1" dirty="0" smtClean="0">
                <a:solidFill>
                  <a:srgbClr val="4472C4"/>
                </a:solidFill>
              </a:rPr>
              <a:t>Αποτελέσματα αποθορυβοποίησης για </a:t>
            </a:r>
            <a:r>
              <a:rPr lang="en-US" sz="1600" b="1" dirty="0" smtClean="0">
                <a:solidFill>
                  <a:srgbClr val="4472C4"/>
                </a:solidFill>
              </a:rPr>
              <a:t>Gaussian Noise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12</a:t>
            </a:r>
            <a:endParaRPr lang="en-US" sz="1000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1529144"/>
            <a:ext cx="9144000" cy="256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2800" b="1" dirty="0" smtClean="0">
                <a:solidFill>
                  <a:srgbClr val="FFFFFF"/>
                </a:solidFill>
              </a:rPr>
              <a:t>ΕΙΚΟΝΙΚΑ ΑΠΟΤΕΛΕΣΜΑΤΑ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l-GR" sz="1600" b="1" dirty="0" smtClean="0">
                <a:solidFill>
                  <a:srgbClr val="4472C4"/>
                </a:solidFill>
              </a:rPr>
              <a:t>Αποτελέσματα αποθορυβοποίησης για </a:t>
            </a:r>
            <a:r>
              <a:rPr lang="en-US" sz="1600" b="1" dirty="0" smtClean="0">
                <a:solidFill>
                  <a:srgbClr val="4472C4"/>
                </a:solidFill>
              </a:rPr>
              <a:t>Salt and Pepper Noise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12</a:t>
            </a:r>
            <a:endParaRPr lang="en-US" sz="1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1611821"/>
            <a:ext cx="9144001" cy="253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ΠΡΑΚΤΙΚΕΣ ΣΥΣΤΑΣΕΙΣ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Gaussian Noise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✓ Προτείνεται: BM3D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Salt &amp; Pepper Noise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✓ Προτείνεται: U-Net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02336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4023360" cy="3657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Άγνωστος/Μικτός Θόρυβος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✓ Προτείνεται: U-Net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(λόγω ευελιξίας)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402336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560320"/>
            <a:ext cx="4023360" cy="3657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Real-time Εφαρμογές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✓ Προτείνεται: U-Net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(ταχύτερο inference)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Κλειδί: Εξειδίκευση vs Ευελιξία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5. ΣΥΜΠΕΡΑΣΜΑΤΑ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72C4"/>
                </a:solidFill>
              </a:rPr>
              <a:t>Επίδοση ανά Τύπο Θορύβου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BM3D ανώτερο για Gaussian noise (29.94 dB)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U-Net ανώτερο για Salt &amp; Pepper noise (23.83 dB)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72C4"/>
                </a:solidFill>
              </a:rPr>
              <a:t>Ευελιξία vs Εξειδίκευση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Κλασικές μέθοδοι εξαιρετικές για συγκεκριμένο θόρυβο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U-Net προσφέρει μεγαλύτερη ευελιξία και adaptability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72C4"/>
                </a:solidFill>
              </a:rPr>
              <a:t>Μελλοντικές Κατευθύνσεις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Hybrid approaches (κλασικές + deep learning)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Blind denoising με αυτόματη ανίχνευση θορύβου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Attention mechanisms </a:t>
            </a:r>
            <a:r>
              <a:rPr lang="en-US" sz="1400" dirty="0" err="1">
                <a:solidFill>
                  <a:srgbClr val="2D2D2D"/>
                </a:solidFill>
              </a:rPr>
              <a:t>και</a:t>
            </a:r>
            <a:r>
              <a:rPr lang="en-US" sz="1400" dirty="0">
                <a:solidFill>
                  <a:srgbClr val="2D2D2D"/>
                </a:solidFill>
              </a:rPr>
              <a:t> </a:t>
            </a:r>
            <a:r>
              <a:rPr lang="en-US" sz="1400" dirty="0" smtClean="0">
                <a:solidFill>
                  <a:srgbClr val="2D2D2D"/>
                </a:solidFill>
              </a:rPr>
              <a:t>GANs</a:t>
            </a:r>
            <a:r>
              <a:rPr lang="el-GR" sz="1400" dirty="0" smtClean="0">
                <a:solidFill>
                  <a:srgbClr val="2D2D2D"/>
                </a:solidFill>
              </a:rPr>
              <a:t> (</a:t>
            </a:r>
            <a:r>
              <a:rPr lang="en-US" sz="1400" dirty="0" smtClean="0">
                <a:solidFill>
                  <a:srgbClr val="2D2D2D"/>
                </a:solidFill>
              </a:rPr>
              <a:t>Generative Models)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ΕΥΧΑΡΙΣΤΩ ΓΙΑ ΤΗΝ ΠΡΟΣΟΧΗ ΣΑΣ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CADCFC"/>
                </a:solidFill>
              </a:rPr>
              <a:t>Ερωτήσεις;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Φοιτητής: </a:t>
            </a:r>
            <a:r>
              <a:rPr lang="en-US" sz="1200" dirty="0">
                <a:solidFill>
                  <a:srgbClr val="FFFFFF"/>
                </a:solidFill>
              </a:rPr>
              <a:t>Μπουντουράσας Κωνσταντίνος | </a:t>
            </a:r>
            <a:r>
              <a:rPr lang="en-US" sz="1200" b="1" dirty="0">
                <a:solidFill>
                  <a:srgbClr val="CADCFC"/>
                </a:solidFill>
              </a:rPr>
              <a:t>Εισηγητής: </a:t>
            </a:r>
            <a:r>
              <a:rPr lang="en-US" sz="1200" dirty="0">
                <a:solidFill>
                  <a:srgbClr val="FFFFFF"/>
                </a:solidFill>
              </a:rPr>
              <a:t>Ζέρβας Παναγιώτης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930</Words>
  <Application>Microsoft Office PowerPoint</Application>
  <PresentationFormat>Προβολή στην οθόνη (16:9)</PresentationFormat>
  <Paragraphs>240</Paragraphs>
  <Slides>18</Slides>
  <Notes>18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18</vt:i4>
      </vt:variant>
    </vt:vector>
  </HeadingPairs>
  <TitlesOfParts>
    <vt:vector size="19" baseType="lpstr">
      <vt:lpstr>Office Theme</vt:lpstr>
      <vt:lpstr>Διαφάνεια 1</vt:lpstr>
      <vt:lpstr>Διαφάνεια 2</vt:lpstr>
      <vt:lpstr>Διαφάνεια 3</vt:lpstr>
      <vt:lpstr>Διαφάνεια 4</vt:lpstr>
      <vt:lpstr>Διαφάνεια 5</vt:lpstr>
      <vt:lpstr>Διαφάνεια 6</vt:lpstr>
      <vt:lpstr>Διαφάνεια 7</vt:lpstr>
      <vt:lpstr>Διαφάνεια 8</vt:lpstr>
      <vt:lpstr>Διαφάνεια 9</vt:lpstr>
      <vt:lpstr>Διαφάνεια 10</vt:lpstr>
      <vt:lpstr>Διαφάνεια 11</vt:lpstr>
      <vt:lpstr>Διαφάνεια 12</vt:lpstr>
      <vt:lpstr>Διαφάνεια 13</vt:lpstr>
      <vt:lpstr>Διαφάνεια 14</vt:lpstr>
      <vt:lpstr>Διαφάνεια 15</vt:lpstr>
      <vt:lpstr>Διαφάνεια 16</vt:lpstr>
      <vt:lpstr>Διαφάνεια 17</vt:lpstr>
      <vt:lpstr>Διαφάνεια 18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Αποθορυβοποίηση Εικόνας με Στατιστικά Φίλτρα και Βαθιά Δίκτυα</dc:title>
  <dc:subject>PptxGenJS Presentation</dc:subject>
  <dc:creator>Μπουντουράσας Κωνσταντίνος</dc:creator>
  <cp:lastModifiedBy>ACER</cp:lastModifiedBy>
  <cp:revision>13</cp:revision>
  <dcterms:created xsi:type="dcterms:W3CDTF">2026-01-28T21:18:19Z</dcterms:created>
  <dcterms:modified xsi:type="dcterms:W3CDTF">2026-02-05T12:48:00Z</dcterms:modified>
</cp:coreProperties>
</file>